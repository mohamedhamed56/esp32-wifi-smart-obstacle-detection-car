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7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74" r:id="rId14"/>
    <p:sldId id="275" r:id="rId15"/>
    <p:sldId id="276" r:id="rId16"/>
    <p:sldId id="269" r:id="rId17"/>
    <p:sldId id="270" r:id="rId18"/>
    <p:sldId id="271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A5F2E1-A8C4-4F7B-B99B-7DC4A17D3240}">
  <a:tblStyle styleId="{DEA5F2E1-A8C4-4F7B-B99B-7DC4A17D324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800D6557-24EE-2878-2B66-B2C4C27A0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EF57145C-3F6F-2944-0739-CDA66876C7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6FC94087-12C4-B63F-97D8-ADE60826F4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38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>
          <a:extLst>
            <a:ext uri="{FF2B5EF4-FFF2-40B4-BE49-F238E27FC236}">
              <a16:creationId xmlns:a16="http://schemas.microsoft.com/office/drawing/2014/main" id="{32C903F9-6C8C-5225-D298-F8E34064F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8C712B4C-A659-BDC5-9889-2A93146E48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2E5C129D-5AA4-B95F-D03E-52F07EAA1B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1756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>
          <a:extLst>
            <a:ext uri="{FF2B5EF4-FFF2-40B4-BE49-F238E27FC236}">
              <a16:creationId xmlns:a16="http://schemas.microsoft.com/office/drawing/2014/main" id="{2696200A-9D3E-C2CD-9D4F-9979DB8C5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1F755F84-B69E-3912-8A50-077466968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9F7C87F8-38BC-61A6-C10F-1C11623342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13305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>
          <a:extLst>
            <a:ext uri="{FF2B5EF4-FFF2-40B4-BE49-F238E27FC236}">
              <a16:creationId xmlns:a16="http://schemas.microsoft.com/office/drawing/2014/main" id="{30B02340-C31D-8C07-DABF-F94A0E7AC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C77316BC-4FFE-5D61-8795-AF75B16B65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10101B5A-983D-515C-EB0B-376D181BEF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57694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>
          <a:extLst>
            <a:ext uri="{FF2B5EF4-FFF2-40B4-BE49-F238E27FC236}">
              <a16:creationId xmlns:a16="http://schemas.microsoft.com/office/drawing/2014/main" id="{69BCEB60-B06A-EBF2-91FC-19E4B5075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9CF92CE1-B268-9253-42E2-85DBD0C24C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052F2E51-40F2-7379-F170-39EF34ED49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98662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jp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9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2590800"/>
            <a:ext cx="1160145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ESP32 </a:t>
            </a:r>
            <a:r>
              <a:rPr lang="en-US" sz="6000" b="1" i="0" u="none" strike="noStrike" cap="none" dirty="0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Wi-Fi RC Car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619500"/>
            <a:ext cx="76200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Integrating Web-Based Control with Real-Time Ultrasonic Obstacle Detection and Safety Systems</a:t>
            </a:r>
            <a:endParaRPr dirty="0"/>
          </a:p>
        </p:txBody>
      </p:sp>
      <p:sp>
        <p:nvSpPr>
          <p:cNvPr id="2" name="Google Shape;88;p13">
            <a:extLst>
              <a:ext uri="{FF2B5EF4-FFF2-40B4-BE49-F238E27FC236}">
                <a16:creationId xmlns:a16="http://schemas.microsoft.com/office/drawing/2014/main" id="{0B5BDC4C-5E3E-0FC5-9A52-97DF71393C68}"/>
              </a:ext>
            </a:extLst>
          </p:cNvPr>
          <p:cNvSpPr txBox="1"/>
          <p:nvPr/>
        </p:nvSpPr>
        <p:spPr>
          <a:xfrm>
            <a:off x="581025" y="5347311"/>
            <a:ext cx="11030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Course: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Internet of Things</a:t>
            </a:r>
            <a:endParaRPr dirty="0"/>
          </a:p>
        </p:txBody>
      </p:sp>
      <p:sp>
        <p:nvSpPr>
          <p:cNvPr id="3" name="Google Shape;89;p13">
            <a:extLst>
              <a:ext uri="{FF2B5EF4-FFF2-40B4-BE49-F238E27FC236}">
                <a16:creationId xmlns:a16="http://schemas.microsoft.com/office/drawing/2014/main" id="{EDBF7D9B-49FD-8B4A-9C48-414C700670D7}"/>
              </a:ext>
            </a:extLst>
          </p:cNvPr>
          <p:cNvSpPr txBox="1"/>
          <p:nvPr/>
        </p:nvSpPr>
        <p:spPr>
          <a:xfrm>
            <a:off x="581025" y="5794986"/>
            <a:ext cx="11029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Date:</a:t>
            </a:r>
            <a:r>
              <a:rPr lang="en-US" sz="15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May 2024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FC17BC2A-A120-F7C0-5BDA-9CF9C43DB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ADF0D9E5-9211-9E5E-95DC-EA84CDC054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>
            <a:extLst>
              <a:ext uri="{FF2B5EF4-FFF2-40B4-BE49-F238E27FC236}">
                <a16:creationId xmlns:a16="http://schemas.microsoft.com/office/drawing/2014/main" id="{2971779B-3CE9-10C6-8D5C-2FAFF413B3C1}"/>
              </a:ext>
            </a:extLst>
          </p:cNvPr>
          <p:cNvSpPr txBox="1"/>
          <p:nvPr/>
        </p:nvSpPr>
        <p:spPr>
          <a:xfrm>
            <a:off x="571500" y="729614"/>
            <a:ext cx="11049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en-US" sz="2000" b="1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Team Members</a:t>
            </a:r>
            <a:endParaRPr lang="en-US" sz="2000" dirty="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" name="Google Shape;87;p13">
            <a:extLst>
              <a:ext uri="{FF2B5EF4-FFF2-40B4-BE49-F238E27FC236}">
                <a16:creationId xmlns:a16="http://schemas.microsoft.com/office/drawing/2014/main" id="{D16F9677-7695-AABB-91D9-D7AC4CDCB767}"/>
              </a:ext>
            </a:extLst>
          </p:cNvPr>
          <p:cNvSpPr txBox="1"/>
          <p:nvPr/>
        </p:nvSpPr>
        <p:spPr>
          <a:xfrm>
            <a:off x="752356" y="1951672"/>
            <a:ext cx="4432935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Mohamed Hamed Ibrahim</a:t>
            </a:r>
          </a:p>
          <a:p>
            <a:pPr marL="342900" lvl="0" indent="-34290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Mohamed Mohab Mohamed</a:t>
            </a:r>
          </a:p>
          <a:p>
            <a:pPr marL="342900" lvl="0" indent="-34290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Youssef Mohamed Yahya</a:t>
            </a:r>
          </a:p>
          <a:p>
            <a:pPr marL="342900" lvl="0" indent="-34290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Youssef Ossama Mohamed</a:t>
            </a:r>
          </a:p>
          <a:p>
            <a:pPr marL="342900" lvl="0" indent="-34290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Mahmoud Samir Abd El-Rahim</a:t>
            </a:r>
          </a:p>
          <a:p>
            <a:pPr marL="342900" lvl="0" indent="-34290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Omar Mohamed Gamal</a:t>
            </a:r>
          </a:p>
        </p:txBody>
      </p:sp>
      <p:sp>
        <p:nvSpPr>
          <p:cNvPr id="3" name="Google Shape;87;p13">
            <a:extLst>
              <a:ext uri="{FF2B5EF4-FFF2-40B4-BE49-F238E27FC236}">
                <a16:creationId xmlns:a16="http://schemas.microsoft.com/office/drawing/2014/main" id="{92B534AB-2B6A-84E5-5EA7-391EFE9ED59F}"/>
              </a:ext>
            </a:extLst>
          </p:cNvPr>
          <p:cNvSpPr txBox="1"/>
          <p:nvPr/>
        </p:nvSpPr>
        <p:spPr>
          <a:xfrm>
            <a:off x="6472178" y="1951672"/>
            <a:ext cx="4432935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Rawan Mohamed Mohamed</a:t>
            </a:r>
          </a:p>
          <a:p>
            <a:pPr marL="342900" lvl="0" indent="-34290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Hager Hagag Sayed</a:t>
            </a:r>
          </a:p>
          <a:p>
            <a:pPr marL="342900" lvl="0" indent="-34290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Nour Amin Ahmed</a:t>
            </a:r>
          </a:p>
          <a:p>
            <a:pPr marL="342900" lvl="0" indent="-34290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Rawan Waled Galal</a:t>
            </a:r>
          </a:p>
          <a:p>
            <a:pPr marL="342900" lvl="0" indent="-34290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Mariam Samir Habib</a:t>
            </a:r>
          </a:p>
        </p:txBody>
      </p:sp>
    </p:spTree>
    <p:extLst>
      <p:ext uri="{BB962C8B-B14F-4D97-AF65-F5344CB8AC3E}">
        <p14:creationId xmlns:p14="http://schemas.microsoft.com/office/powerpoint/2010/main" val="3951527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95525"/>
            <a:ext cx="5381625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295525"/>
            <a:ext cx="5381625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914400" y="3400425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Remote Connectivity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14400" y="3867150"/>
            <a:ext cx="46958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Establishing a wireless Access Point on the ESP32 to host a cross-platform web interface for real-time robotic maneuvering without the need for external mobile apps.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581775" y="3400425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Autonomous Safety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581775" y="3867150"/>
            <a:ext cx="46958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Implementing an ultrasonic-based feedback loop to detect environmental barriers and trigger immediate safety stops, preventing physical damage to the robot chassis.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686050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2686050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OBJECTIVES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952500" y="2438400"/>
            <a:ext cx="4857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Wi-Fi Access Point: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ESP32 creates its own local network, ensuring low-latency communication.</a:t>
            </a:r>
            <a:endParaRPr dirty="0"/>
          </a:p>
        </p:txBody>
      </p:sp>
      <p:sp>
        <p:nvSpPr>
          <p:cNvPr id="129" name="Google Shape;129;p16"/>
          <p:cNvSpPr txBox="1"/>
          <p:nvPr/>
        </p:nvSpPr>
        <p:spPr>
          <a:xfrm>
            <a:off x="952500" y="3286125"/>
            <a:ext cx="48577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Web-Based UI: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 custom HTML5 page featuring a virtual joystick for intuitive touch or mouse control.</a:t>
            </a:r>
            <a:endParaRPr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952500" y="4133850"/>
            <a:ext cx="485775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Edge Processing: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All logic—from parsing joystick coordinates to obstacle math—is performed locally on the ESP32 dual-core chip.</a:t>
            </a:r>
            <a:endParaRPr dirty="0"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8126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289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7671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SYSTEM OVERVIEW</a:t>
            </a: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81A2F8-4D94-B303-AE2C-B88556DB6096}"/>
              </a:ext>
            </a:extLst>
          </p:cNvPr>
          <p:cNvSpPr/>
          <p:nvPr/>
        </p:nvSpPr>
        <p:spPr>
          <a:xfrm>
            <a:off x="6702552" y="1057275"/>
            <a:ext cx="4690872" cy="5142357"/>
          </a:xfrm>
          <a:prstGeom prst="rect">
            <a:avLst/>
          </a:prstGeom>
          <a:noFill/>
          <a:ln w="3175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5E127E-2ECE-6764-1AFF-07557E2A9E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8432" y="1464401"/>
            <a:ext cx="3839111" cy="43821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0" name="Google Shape;140;p17"/>
          <p:cNvGraphicFramePr/>
          <p:nvPr>
            <p:extLst>
              <p:ext uri="{D42A27DB-BD31-4B8C-83A1-F6EECF244321}">
                <p14:modId xmlns:p14="http://schemas.microsoft.com/office/powerpoint/2010/main" val="1283636138"/>
              </p:ext>
            </p:extLst>
          </p:nvPr>
        </p:nvGraphicFramePr>
        <p:xfrm>
          <a:off x="571500" y="2205037"/>
          <a:ext cx="11049000" cy="3505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u="none" strike="noStrike" cap="none">
                          <a:solidFill>
                            <a:srgbClr val="06B6D4"/>
                          </a:solidFill>
                          <a:sym typeface="Inter"/>
                        </a:rPr>
                        <a:t>Category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u="none" strike="noStrike" cap="none" dirty="0">
                          <a:solidFill>
                            <a:srgbClr val="06B6D4"/>
                          </a:solidFill>
                          <a:sym typeface="Inter"/>
                        </a:rPr>
                        <a:t>Component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u="none" strike="noStrike" cap="none">
                          <a:solidFill>
                            <a:srgbClr val="06B6D4"/>
                          </a:solidFill>
                          <a:sym typeface="Inter"/>
                        </a:rPr>
                        <a:t>Function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Core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ESP32 Microcontroller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u="none" strike="noStrike" cap="none" dirty="0">
                          <a:solidFill>
                            <a:srgbClr val="CBD5E1"/>
                          </a:solidFill>
                          <a:sym typeface="Inter"/>
                        </a:rPr>
                        <a:t>Wi-Fi Server &amp; Central Processing Unit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Actuation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L298N Motor Driver + 2 DC Motors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Dual-channel H-Bridge for directional control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Sensing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HC-SR04 Ultrasonic Sensor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Proximity and distance measurement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Security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Active Buzzer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Audible collision alert system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Power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u="none" strike="noStrike" cap="none">
                          <a:solidFill>
                            <a:srgbClr val="CBD5E1"/>
                          </a:solidFill>
                          <a:sym typeface="Inter"/>
                        </a:rPr>
                        <a:t>Power Bank (USB)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u="none" strike="noStrike" cap="none" dirty="0">
                          <a:solidFill>
                            <a:srgbClr val="CBD5E1"/>
                          </a:solidFill>
                          <a:sym typeface="Inter"/>
                        </a:rPr>
                        <a:t>Stable 5V power supply for electronics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1" name="Google Shape;141;p17"/>
          <p:cNvSpPr/>
          <p:nvPr/>
        </p:nvSpPr>
        <p:spPr>
          <a:xfrm>
            <a:off x="571500" y="2824162"/>
            <a:ext cx="1650801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2222301" y="2824162"/>
            <a:ext cx="416242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6384726" y="2824162"/>
            <a:ext cx="523577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71500" y="3409950"/>
            <a:ext cx="16508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2222301" y="3409950"/>
            <a:ext cx="4162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6384726" y="3409950"/>
            <a:ext cx="52357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571500" y="3981450"/>
            <a:ext cx="16508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2222301" y="3981450"/>
            <a:ext cx="4162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6384726" y="3981450"/>
            <a:ext cx="52357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71500" y="4552950"/>
            <a:ext cx="16508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2222301" y="4552950"/>
            <a:ext cx="4162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6384726" y="4552950"/>
            <a:ext cx="52357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71500" y="5124450"/>
            <a:ext cx="16508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2222301" y="5124450"/>
            <a:ext cx="4162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384726" y="5124450"/>
            <a:ext cx="52357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71500" y="5695950"/>
            <a:ext cx="16508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2222301" y="5695950"/>
            <a:ext cx="41624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6384726" y="5695950"/>
            <a:ext cx="52357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HARDWARE COMPONENTS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95525"/>
            <a:ext cx="3492549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95525"/>
            <a:ext cx="3492549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95525"/>
            <a:ext cx="3492549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914400" y="3400425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Control Layer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14400" y="3867150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User connects to WiFi AP. Phone browser sends X/Y coordinates via HTTP requests.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692699" y="3400425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Processing Layer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4692699" y="3867150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ESP32 parses data, calculates differential steering, and checks sensor distance.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470999" y="3400425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Action Layer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470999" y="3867150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L298N activates motors based on PWM; Buzzer sounds if safety limit is breached.</a:t>
            </a:r>
            <a:endParaRPr/>
          </a:p>
        </p:txBody>
      </p:sp>
      <p:pic>
        <p:nvPicPr>
          <p:cNvPr id="174" name="Google Shape;17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686050"/>
            <a:ext cx="3238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268605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0999" y="2686050"/>
            <a:ext cx="5334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SYSTEM ARCHITECTURE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952500" y="247173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Motor Driver (L298N):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GPIO 27, 26, 18, 19 (IN1-IN4).</a:t>
            </a:r>
            <a:endParaRPr dirty="0"/>
          </a:p>
        </p:txBody>
      </p:sp>
      <p:sp>
        <p:nvSpPr>
          <p:cNvPr id="186" name="Google Shape;186;p19"/>
          <p:cNvSpPr txBox="1"/>
          <p:nvPr/>
        </p:nvSpPr>
        <p:spPr>
          <a:xfrm>
            <a:off x="952500" y="301466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Ultrasonic (HC-SR04):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Trig to GPIO 23, Echo to GPIO 32 via 1k/2k Divider.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952500" y="38623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Buzzer: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Positive to GPIO 25, Negative to GND.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952500" y="440531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Power: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Unified Ground across all modules is critical for signal stability.</a:t>
            </a:r>
            <a:endParaRPr/>
          </a:p>
        </p:txBody>
      </p:sp>
      <p:pic>
        <p:nvPicPr>
          <p:cNvPr id="189" name="Google Shape;18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14600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0525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48175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WIRING &amp; PIN CONFIGURATION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98896A-8682-FD55-42DD-22D6029B9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279926"/>
              </p:ext>
            </p:extLst>
          </p:nvPr>
        </p:nvGraphicFramePr>
        <p:xfrm>
          <a:off x="6336792" y="1880093"/>
          <a:ext cx="5347716" cy="380999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82572">
                  <a:extLst>
                    <a:ext uri="{9D8B030D-6E8A-4147-A177-3AD203B41FA5}">
                      <a16:colId xmlns:a16="http://schemas.microsoft.com/office/drawing/2014/main" val="1214928961"/>
                    </a:ext>
                  </a:extLst>
                </a:gridCol>
                <a:gridCol w="1782572">
                  <a:extLst>
                    <a:ext uri="{9D8B030D-6E8A-4147-A177-3AD203B41FA5}">
                      <a16:colId xmlns:a16="http://schemas.microsoft.com/office/drawing/2014/main" val="1871712044"/>
                    </a:ext>
                  </a:extLst>
                </a:gridCol>
                <a:gridCol w="1782572">
                  <a:extLst>
                    <a:ext uri="{9D8B030D-6E8A-4147-A177-3AD203B41FA5}">
                      <a16:colId xmlns:a16="http://schemas.microsoft.com/office/drawing/2014/main" val="1700771794"/>
                    </a:ext>
                  </a:extLst>
                </a:gridCol>
              </a:tblGrid>
              <a:tr h="530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latin typeface="Inter SemiBold"/>
                        </a:rPr>
                        <a:t>ESP32 GPIO Pin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latin typeface="Inter SemiBold"/>
                        </a:rPr>
                        <a:t>Connected Component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latin typeface="Inter SemiBold"/>
                        </a:rPr>
                        <a:t>Function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114563"/>
                  </a:ext>
                </a:extLst>
              </a:tr>
              <a:tr h="5308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Inter"/>
                        </a:rPr>
                        <a:t>GPIO27, GPIO26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Inter"/>
                        </a:rPr>
                        <a:t>L298N IN1, IN2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latin typeface="Inter"/>
                        </a:rPr>
                        <a:t>Right Motor Direction Control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7295188"/>
                  </a:ext>
                </a:extLst>
              </a:tr>
              <a:tr h="5308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Inter"/>
                        </a:rPr>
                        <a:t>GPIO18, GPIO19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Inter"/>
                        </a:rPr>
                        <a:t>L298N IN3, IN4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Inter"/>
                        </a:rPr>
                        <a:t>Left Motor Direction Control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448701"/>
                  </a:ext>
                </a:extLst>
              </a:tr>
              <a:tr h="5308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Inter"/>
                        </a:rPr>
                        <a:t>GPIO23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latin typeface="Inter"/>
                        </a:rPr>
                        <a:t>HC-SR04 TRIG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Inter"/>
                        </a:rPr>
                        <a:t>Sends ultrasonic pulse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588098"/>
                  </a:ext>
                </a:extLst>
              </a:tr>
              <a:tr h="610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Inter"/>
                        </a:rPr>
                        <a:t>GPIO32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>
                          <a:solidFill>
                            <a:schemeClr val="bg1"/>
                          </a:solidFill>
                          <a:latin typeface="Inter"/>
                        </a:rPr>
                        <a:t>HC-SR04 ECHO (via voltage divider)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latin typeface="Inter"/>
                        </a:rPr>
                        <a:t>Receives reflected signal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930908"/>
                  </a:ext>
                </a:extLst>
              </a:tr>
              <a:tr h="358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latin typeface="Inter"/>
                        </a:rPr>
                        <a:t>GPIO25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latin typeface="Inter"/>
                        </a:rPr>
                        <a:t>Buzzer (+)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latin typeface="Inter"/>
                        </a:rPr>
                        <a:t>Obstacle alert sound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334287"/>
                  </a:ext>
                </a:extLst>
              </a:tr>
              <a:tr h="358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latin typeface="Inter"/>
                        </a:rPr>
                        <a:t>GND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latin typeface="Inter"/>
                        </a:rPr>
                        <a:t>All modules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latin typeface="Inter"/>
                        </a:rPr>
                        <a:t>Common ground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472115"/>
                  </a:ext>
                </a:extLst>
              </a:tr>
              <a:tr h="358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latin typeface="Inter"/>
                        </a:rPr>
                        <a:t>5V / VIN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  <a:latin typeface="Inter"/>
                        </a:rPr>
                        <a:t>HC-SR04 VCC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Inter"/>
                        </a:rPr>
                        <a:t>Sensor power</a:t>
                      </a:r>
                    </a:p>
                  </a:txBody>
                  <a:tcPr anchor="ctr"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4216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6691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6381750" y="1957387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Differential Steering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381750" y="2424112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Rather than spinning in place, the system calculates a variable speed for each wheel based on the Joystick X-axis: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762750" y="3529012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Inner Wheel: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Speed decreases to act as a pivot point.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762750" y="43767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Outer Wheel: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Speed increases to drive the arc of the turn.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762750" y="52244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Result: Smooth, realistic vehicle motion.</a:t>
            </a:r>
            <a:endParaRPr/>
          </a:p>
        </p:txBody>
      </p:sp>
      <p:pic>
        <p:nvPicPr>
          <p:cNvPr id="205" name="Google Shape;20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5718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44196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526732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STEERING LOGIC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5738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39195"/>
            <a:ext cx="5238750" cy="115118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571500" y="2534245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sensor uses high-frequency sound waves to measure distance. To protect the ESP32, a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Voltage Divider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(1kΩ and 2kΩ resistors) scales the 5V Echo signal down to a safe 3.3V level.</a:t>
            </a:r>
            <a:endParaRPr/>
          </a:p>
        </p:txBody>
      </p:sp>
      <p:pic>
        <p:nvPicPr>
          <p:cNvPr id="217" name="Google Shape;21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1966912"/>
            <a:ext cx="34004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875" y="4324945"/>
            <a:ext cx="4619625" cy="27116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904875" y="4691360"/>
            <a:ext cx="4619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*0.034 represents the speed of sound in cm/μs.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ULTRASONIC SENSING LOGIC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81166A-2A5D-3383-4599-99B20F63F307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6391275" y="1876913"/>
            <a:ext cx="5239512" cy="38130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571500" y="2881312"/>
            <a:ext cx="53340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dirty="0">
                <a:solidFill>
                  <a:srgbClr val="06B6D4"/>
                </a:solidFill>
                <a:latin typeface="Inter"/>
                <a:ea typeface="Inter"/>
                <a:sym typeface="Inter"/>
              </a:rPr>
              <a:t>15</a:t>
            </a:r>
            <a:endParaRPr dirty="0"/>
          </a:p>
        </p:txBody>
      </p:sp>
      <p:sp>
        <p:nvSpPr>
          <p:cNvPr id="227" name="Google Shape;227;p22"/>
          <p:cNvSpPr txBox="1"/>
          <p:nvPr/>
        </p:nvSpPr>
        <p:spPr>
          <a:xfrm>
            <a:off x="571500" y="4500562"/>
            <a:ext cx="533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Centimeters (Threshold)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286500" y="2357437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Safety Protocol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6667500" y="2824162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Instant Halt: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If distance &lt; </a:t>
            </a: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cm, the ESP32 overrides user commands and brakes all motors.</a:t>
            </a:r>
            <a:endParaRPr dirty="0"/>
          </a:p>
        </p:txBody>
      </p:sp>
      <p:sp>
        <p:nvSpPr>
          <p:cNvPr id="230" name="Google Shape;230;p22"/>
          <p:cNvSpPr txBox="1"/>
          <p:nvPr/>
        </p:nvSpPr>
        <p:spPr>
          <a:xfrm>
            <a:off x="6667500" y="36718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Audible Alert: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GPIO 25 triggers the active buzzer to notify the operator.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6667500" y="4519612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Lockout: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Forward motion remains disabled until the obstacle is cleared or the robot is reversed.</a:t>
            </a:r>
            <a:endParaRPr/>
          </a:p>
        </p:txBody>
      </p:sp>
      <p:pic>
        <p:nvPicPr>
          <p:cNvPr id="232" name="Google Shape;23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867025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371475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4562475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COLLISION PREVENTION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42573" y="2295525"/>
            <a:ext cx="3492549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13978" y="2295525"/>
            <a:ext cx="3492549" cy="3133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2085473" y="3400425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Web Server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2085473" y="3867150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Asynchronous web server hosting HTML/JS resources directly from ESP32 Flash memory.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6956878" y="3400425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Main Loop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6956878" y="3867150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Real-time polling of distance sensor interleaved with user command execution.</a:t>
            </a:r>
            <a:endParaRPr/>
          </a:p>
        </p:txBody>
      </p:sp>
      <p:pic>
        <p:nvPicPr>
          <p:cNvPr id="250" name="Google Shape;250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85473" y="2686050"/>
            <a:ext cx="3238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56878" y="2686050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SOFTWARE &amp; CODE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9">
          <a:extLst>
            <a:ext uri="{FF2B5EF4-FFF2-40B4-BE49-F238E27FC236}">
              <a16:creationId xmlns:a16="http://schemas.microsoft.com/office/drawing/2014/main" id="{279C448E-E3BC-B071-0FD9-426A0C49C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3" descr="image.png">
            <a:extLst>
              <a:ext uri="{FF2B5EF4-FFF2-40B4-BE49-F238E27FC236}">
                <a16:creationId xmlns:a16="http://schemas.microsoft.com/office/drawing/2014/main" id="{046F7A26-A133-FFBC-F478-A6A53F38F3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>
            <a:extLst>
              <a:ext uri="{FF2B5EF4-FFF2-40B4-BE49-F238E27FC236}">
                <a16:creationId xmlns:a16="http://schemas.microsoft.com/office/drawing/2014/main" id="{DC4300BB-FED1-BDBD-D51D-94E709FB2F34}"/>
              </a:ext>
            </a:extLst>
          </p:cNvPr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Source Code Highlights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5339CA-5601-A5C6-ACD1-10511C92A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48466"/>
            <a:ext cx="5653215" cy="5268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55B24C-CC12-13C3-B957-F1F703721A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1248466"/>
            <a:ext cx="5713733" cy="526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488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9">
          <a:extLst>
            <a:ext uri="{FF2B5EF4-FFF2-40B4-BE49-F238E27FC236}">
              <a16:creationId xmlns:a16="http://schemas.microsoft.com/office/drawing/2014/main" id="{9B7F163B-767F-CFC6-A110-CBF175B51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3" descr="image.png">
            <a:extLst>
              <a:ext uri="{FF2B5EF4-FFF2-40B4-BE49-F238E27FC236}">
                <a16:creationId xmlns:a16="http://schemas.microsoft.com/office/drawing/2014/main" id="{202263DD-2FE4-F90E-9060-B3AA1C8D02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>
            <a:extLst>
              <a:ext uri="{FF2B5EF4-FFF2-40B4-BE49-F238E27FC236}">
                <a16:creationId xmlns:a16="http://schemas.microsoft.com/office/drawing/2014/main" id="{45981E88-5EF8-420B-81F6-FF525EAD0A09}"/>
              </a:ext>
            </a:extLst>
          </p:cNvPr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Source Code Highlights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383B32-C207-54DC-2637-73F15214D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09437"/>
            <a:ext cx="5650992" cy="50770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959519-5355-5A94-B898-B6FA1A7877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1209437"/>
            <a:ext cx="5650992" cy="522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559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9">
          <a:extLst>
            <a:ext uri="{FF2B5EF4-FFF2-40B4-BE49-F238E27FC236}">
              <a16:creationId xmlns:a16="http://schemas.microsoft.com/office/drawing/2014/main" id="{E5EF4C95-545D-82C5-CBE4-A9BCA7B9D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3" descr="image.png">
            <a:extLst>
              <a:ext uri="{FF2B5EF4-FFF2-40B4-BE49-F238E27FC236}">
                <a16:creationId xmlns:a16="http://schemas.microsoft.com/office/drawing/2014/main" id="{61398BF2-86B4-D851-B1D7-5908D126B1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>
            <a:extLst>
              <a:ext uri="{FF2B5EF4-FFF2-40B4-BE49-F238E27FC236}">
                <a16:creationId xmlns:a16="http://schemas.microsoft.com/office/drawing/2014/main" id="{4C903435-7758-92BF-C1C7-D99B1DBC332D}"/>
              </a:ext>
            </a:extLst>
          </p:cNvPr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Source Code Highlights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215408-95C7-F089-DBCA-99307433D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49517"/>
            <a:ext cx="5665285" cy="52669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9AA3F2-2121-F218-E7EA-F833FDE3A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225" y="1186093"/>
            <a:ext cx="5673085" cy="523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7385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9">
          <a:extLst>
            <a:ext uri="{FF2B5EF4-FFF2-40B4-BE49-F238E27FC236}">
              <a16:creationId xmlns:a16="http://schemas.microsoft.com/office/drawing/2014/main" id="{D47D88DC-0297-0856-B638-A1395D1A1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3" descr="image.png">
            <a:extLst>
              <a:ext uri="{FF2B5EF4-FFF2-40B4-BE49-F238E27FC236}">
                <a16:creationId xmlns:a16="http://schemas.microsoft.com/office/drawing/2014/main" id="{A921AFF1-1E44-9865-A381-A17EA1462F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>
            <a:extLst>
              <a:ext uri="{FF2B5EF4-FFF2-40B4-BE49-F238E27FC236}">
                <a16:creationId xmlns:a16="http://schemas.microsoft.com/office/drawing/2014/main" id="{C002015E-607D-DDA2-17EC-CE387302A8EE}"/>
              </a:ext>
            </a:extLst>
          </p:cNvPr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Source Code Highlights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C2AD7E-A1FB-D811-5A7C-69A1DC8B8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13931"/>
            <a:ext cx="5713266" cy="37665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B1E39C-21D0-3184-EF13-B31ED8F197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4418" y="1913931"/>
            <a:ext cx="5668879" cy="376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934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86000" y="1448899"/>
            <a:ext cx="762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6"/>
          <p:cNvSpPr txBox="1"/>
          <p:nvPr/>
        </p:nvSpPr>
        <p:spPr>
          <a:xfrm>
            <a:off x="295275" y="5715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Robot Assembly Photos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3781425" y="3169890"/>
            <a:ext cx="46291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[INSERT FINAL ASSEMBLY PHOTOS HERE]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25FF21-37F3-0310-E4FA-596E25A939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4247388" y="973761"/>
            <a:ext cx="3568446" cy="47579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1481137"/>
            <a:ext cx="952500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0" y="320322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7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06B6D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CIRCUITRY &amp; WIRING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9625F5-72F4-3C31-1203-6CF5B1DFD9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7768" y="1481137"/>
            <a:ext cx="3996464" cy="48170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8"/>
          <p:cNvSpPr txBox="1"/>
          <p:nvPr/>
        </p:nvSpPr>
        <p:spPr>
          <a:xfrm>
            <a:off x="295275" y="571500"/>
            <a:ext cx="1160145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System Demonstration</a:t>
            </a:r>
            <a:endParaRPr/>
          </a:p>
        </p:txBody>
      </p:sp>
      <p:sp>
        <p:nvSpPr>
          <p:cNvPr id="312" name="Google Shape;312;p28"/>
          <p:cNvSpPr txBox="1"/>
          <p:nvPr/>
        </p:nvSpPr>
        <p:spPr>
          <a:xfrm>
            <a:off x="571500" y="157162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Live Testing and Functional Verification</a:t>
            </a:r>
            <a:endParaRPr/>
          </a:p>
        </p:txBody>
      </p:sp>
      <p:sp>
        <p:nvSpPr>
          <p:cNvPr id="313" name="Google Shape;313;p28"/>
          <p:cNvSpPr txBox="1"/>
          <p:nvPr/>
        </p:nvSpPr>
        <p:spPr>
          <a:xfrm>
            <a:off x="571500" y="4539406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Thank you! Questions?</a:t>
            </a:r>
            <a:endParaRPr/>
          </a:p>
        </p:txBody>
      </p:sp>
      <p:pic>
        <p:nvPicPr>
          <p:cNvPr id="2" name="VID-20260511-WA0023">
            <a:hlinkClick r:id="" action="ppaction://media"/>
            <a:extLst>
              <a:ext uri="{FF2B5EF4-FFF2-40B4-BE49-F238E27FC236}">
                <a16:creationId xmlns:a16="http://schemas.microsoft.com/office/drawing/2014/main" id="{3C9D622C-2BF6-2998-1659-E415C00618F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963480" y="2224278"/>
            <a:ext cx="2265040" cy="40622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6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644</Words>
  <Application>Microsoft Office PowerPoint</Application>
  <PresentationFormat>Widescreen</PresentationFormat>
  <Paragraphs>111</Paragraphs>
  <Slides>18</Slides>
  <Notes>18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Inter</vt:lpstr>
      <vt:lpstr>Inter SemiBold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Mohamed Hamed</cp:lastModifiedBy>
  <cp:revision>8</cp:revision>
  <dcterms:modified xsi:type="dcterms:W3CDTF">2026-05-11T07:47:09Z</dcterms:modified>
</cp:coreProperties>
</file>